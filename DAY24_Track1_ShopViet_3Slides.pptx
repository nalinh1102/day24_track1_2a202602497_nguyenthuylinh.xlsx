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2C37"/>
                </a:solidFill>
                <a:latin typeface="Aptos"/>
              </a:defRPr>
            </a:pPr>
            <a:r>
              <a:t>VINUNI AI IN ACTION · TRACK 1 · DAY 24       |      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D2F"/>
                </a:solidFill>
                <a:latin typeface="Aptos"/>
              </a:defRPr>
            </a:pPr>
            <a:r>
              <a:t>DỪNG mô hình ShopViết hiện tại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4708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05B6C"/>
                </a:solidFill>
                <a:latin typeface="Aptos"/>
              </a:defRPr>
            </a:pPr>
            <a:r>
              <a:t>Giá 99.000đ/tháng gồm 300 việc; vượt mức 300đ/việc. Không nên mở rộng quảng cáo lúc này.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C62C37"/>
                </a:solidFill>
                <a:latin typeface="Aptos"/>
              </a:defRPr>
            </a:pPr>
            <a:r>
              <a:t>Lý do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455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11D2F"/>
                </a:solidFill>
                <a:latin typeface="Aptos"/>
              </a:defRPr>
            </a:pPr>
            <a:r>
              <a:t>NPV 24 tháng (cơ sở) = −688,95 triệu đồng; LTV/CAC = 1,19 lần, dưới mốc tham khảo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673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C62C37"/>
                </a:solidFill>
                <a:latin typeface="Aptos"/>
              </a:defRPr>
            </a:pPr>
            <a:r>
              <a:t>Khách hàng mục tiêu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966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11D2F"/>
                </a:solidFill>
                <a:latin typeface="Aptos"/>
              </a:defRPr>
            </a:pPr>
            <a:r>
              <a:t>Người bán nhỏ trên sàn thương mại điện tử; bán trực tiếp, không chia đối tác.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9145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C62C37"/>
                </a:solidFill>
                <a:latin typeface="Aptos"/>
              </a:defRPr>
            </a:pPr>
            <a:r>
              <a:t>Bước tiếp theo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93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11D2F"/>
                </a:solidFill>
                <a:latin typeface="Aptos"/>
              </a:defRPr>
            </a:pPr>
            <a:r>
              <a:t>Chỉ cân nhắc thiết kế lại kênh thu hút và giữ chân khách; không coi số giả định là bằng chứng thị trường.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05B6C"/>
                </a:solidFill>
                <a:latin typeface="Aptos"/>
              </a:defRPr>
            </a:pPr>
            <a:r>
              <a:t>Nguồn: CS9_DeBai_GiaDinh.pdf, đề 3; CS9_Workshop_Trong.xlsx (mô hình bài tập).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2C37"/>
                </a:solidFill>
                <a:latin typeface="Aptos"/>
              </a:defRPr>
            </a:pPr>
            <a:r>
              <a:t>VINUNI AI IN ACTION · TRACK 1 · DAY 24       |      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D2F"/>
                </a:solidFill>
                <a:latin typeface="Aptos"/>
              </a:defRPr>
            </a:pPr>
            <a:r>
              <a:t>Bằng chứng tài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4708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05B6C"/>
                </a:solidFill>
                <a:latin typeface="Aptos"/>
              </a:defRPr>
            </a:pPr>
            <a:r>
              <a:t>Giá vốn thấp chưa đủ để tạo ra mô hình kinh doanh có lãi.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C62C37"/>
                </a:solidFill>
                <a:latin typeface="Aptos"/>
              </a:defRPr>
            </a:pPr>
            <a:r>
              <a:t>Chi phí mỗi việc: ~52,13đ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455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11D2F"/>
                </a:solidFill>
                <a:latin typeface="Aptos"/>
              </a:defRPr>
            </a:pPr>
            <a:r>
              <a:t>Giá vốn gồm AI 8,79đ, người kiểm tra ~13,33đ, hạ tầng/đánh giá/khác 30đ.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673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C62C37"/>
                </a:solidFill>
                <a:latin typeface="Aptos"/>
              </a:defRPr>
            </a:pPr>
            <a:r>
              <a:t>Khách hàng và biên gộp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966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11D2F"/>
                </a:solidFill>
                <a:latin typeface="Aptos"/>
              </a:defRPr>
            </a:pPr>
            <a:r>
              <a:t>Doanh thu bình quân 139.500đ/khách/tháng; biên gộp ~89,46%; LTV ~832.002đ; CAC 700.000đ.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9145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C62C37"/>
                </a:solidFill>
                <a:latin typeface="Aptos"/>
              </a:defRPr>
            </a:pPr>
            <a:r>
              <a:t>Dòng tiền 24 tháng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93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11D2F"/>
                </a:solidFill>
                <a:latin typeface="Aptos"/>
              </a:defRPr>
            </a:pPr>
            <a:r>
              <a:t>NPV: lạc quan −680,21 triệu; cơ sở −688,95 triệu; xấu −660,15 triệu; chưa hoàn vốn trong 24 tháng.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05B6C"/>
                </a:solidFill>
                <a:latin typeface="Aptos"/>
              </a:defRPr>
            </a:pPr>
            <a:r>
              <a:t>Nguồn: CS9_DeBai_GiaDinh.pdf, đề 3; CS9_Workshop_Trong.xlsx (mô hình bài tập).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2C37"/>
                </a:solidFill>
                <a:latin typeface="Aptos"/>
              </a:defRPr>
            </a:pPr>
            <a:r>
              <a:t>VINUNI AI IN ACTION · TRACK 1 · DAY 24       |      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D2F"/>
                </a:solidFill>
                <a:latin typeface="Aptos"/>
              </a:defRPr>
            </a:pPr>
            <a:r>
              <a:t>Rủi ro và luật xử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4708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05B6C"/>
                </a:solidFill>
                <a:latin typeface="Aptos"/>
              </a:defRPr>
            </a:pPr>
            <a:r>
              <a:t>Mô hình đang thiếu khả năng thu hồi chi phí tìm khách; cần kiểm chứng thay vì tăng quy mô.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C62C37"/>
                </a:solidFill>
                <a:latin typeface="Aptos"/>
              </a:defRPr>
            </a:pPr>
            <a:r>
              <a:t>Biến nguy hiểm nhất: CAC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455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11D2F"/>
                </a:solidFill>
                <a:latin typeface="Aptos"/>
              </a:defRPr>
            </a:pPr>
            <a:r>
              <a:t>CAC tăng 20% khiến NPV cơ sở từ −688,95 xuống −730,43 triệu đồng (theo bảng độ nhạy).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673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C62C37"/>
                </a:solidFill>
                <a:latin typeface="Aptos"/>
              </a:defRPr>
            </a:pPr>
            <a:r>
              <a:t>Luật dừng quảng cáo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966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11D2F"/>
                </a:solidFill>
                <a:latin typeface="Aptos"/>
              </a:defRPr>
            </a:pPr>
            <a:r>
              <a:t>NẾU CAC &gt;700.000đ trong 2 tuần liên tiếp trên ≥30 khách mới, THÌ tạm dừng quảng cáo trả phí; KHÔNG THÌ không tăng ngân sách khi LTV/CAC &lt;3.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9145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C62C37"/>
                </a:solidFill>
                <a:latin typeface="Aptos"/>
              </a:defRPr>
            </a:pPr>
            <a:r>
              <a:t>Ngưỡng theo dõi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93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11D2F"/>
                </a:solidFill>
                <a:latin typeface="Aptos"/>
              </a:defRPr>
            </a:pPr>
            <a:r>
              <a:t>Theo dõi CAC, churn 15%/tháng, LTV/CAC, doanh thu/khách, chi phí cố định 120 triệu/tháng; ngưỡng hòa vốn âm hoặc &gt;100% không khả thi.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05B6C"/>
                </a:solidFill>
                <a:latin typeface="Aptos"/>
              </a:defRPr>
            </a:pPr>
            <a:r>
              <a:t>Nguồn: CS9_DeBai_GiaDinh.pdf, đề 3; CS9_Workshop_Trong.xlsx (mô hình bài tập).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